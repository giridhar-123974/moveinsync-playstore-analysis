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italic ns1:id="rIdFont17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608b9565-4ee0-4449-b595-628ff78b2c6b.fntdata" /><ns0:Relationship Id="rIdFont18" Type="http://schemas.openxmlformats.org/officeDocument/2006/relationships/font" Target="fonts/b0acf200-868b-447b-93ad-e62c1bae4ce3.fntdata" /><ns0:Relationship Id="rIdFont19" Type="http://schemas.openxmlformats.org/officeDocument/2006/relationships/font" Target="fonts/0b0a0d19-cd24-4709-a48d-96f8d0fa456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56054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1169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PRODUCT &amp; ENGINEERING DESIGN NOTE • 11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3554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Improving MoveInSync Play Store Ratings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03277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Evidence-based product strategy for reliability, trust, and app store reputation.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456054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90D16"/>
                </a:solidFill>
                <a:latin typeface="Plus Jakarta Sans"/>
              </a:rPr>
              <a:t>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7846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Ratings are a public scorecard of whether the commute promise holds at the moment of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9925" y="6477000"/>
            <a:ext cx="885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1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555777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Bukke Giridhar Naik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774852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FDE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467350"/>
            <a:ext cx="10668000" cy="7810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2324100"/>
            <a:ext cx="5181600" cy="1962150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2457450"/>
            <a:ext cx="5181600" cy="1695450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467350"/>
            <a:ext cx="38100" cy="781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825" y="3248025"/>
            <a:ext cx="2909887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10712" y="3248025"/>
            <a:ext cx="581917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92630" y="3248025"/>
            <a:ext cx="984795" cy="2286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3248025"/>
            <a:ext cx="4476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5" y="3381375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Current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Where We Stand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5657850"/>
            <a:ext cx="10267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Plus Jakarta Sans"/>
              </a:rPr>
              <a:t>Key Insight:</a:t>
            </a:r>
            <a:r>
              <a:rPr b="0" sz="1200" i="0" u="none">
                <a:solidFill>
                  <a:srgbClr val="1E3A8A"/>
                </a:solidFill>
                <a:latin typeface="Plus Jakarta Sans"/>
              </a:rPr>
              <a:t> The lifetime 4.6 hides a worse recent picture. Moving the lifetime average from 4.6 to 4.7 requires ~57,500 new 4.9-star ratings. We must manage via rolling 30/90-day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477000"/>
            <a:ext cx="8108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The lifetime 4.6 hides a worse recent picture. Focus on rolling 30/90-day rating and 1-star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2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831" y="2676525"/>
            <a:ext cx="559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LIFETIME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831" y="2962275"/>
            <a:ext cx="5595937" cy="6858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Plus Jakarta Sans"/>
              </a:rPr>
              <a:t>4.6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831" y="3762375"/>
            <a:ext cx="559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~1.15 Lakh reviews • 10M+ downloads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1231" y="2809875"/>
            <a:ext cx="559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SAMPLE SENTIMENT (~560 REVIEWS)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3629025"/>
            <a:ext cx="1276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F4444"/>
                </a:solidFill>
                <a:latin typeface="Plus Jakarta Sans"/>
              </a:rPr>
              <a:t>~65%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2950" y="3629025"/>
            <a:ext cx="10382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~13% Mixed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9825" y="3629025"/>
            <a:ext cx="1190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~22% Positive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2581275"/>
            <a:ext cx="82677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8400" y="2981325"/>
            <a:ext cx="82677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38400" y="3381375"/>
            <a:ext cx="82677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8400" y="3781425"/>
            <a:ext cx="82677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38400" y="4181475"/>
            <a:ext cx="82677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8400" y="4581525"/>
            <a:ext cx="82677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38400" y="2581275"/>
            <a:ext cx="1653480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8400" y="2981325"/>
            <a:ext cx="1240035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8400" y="3381375"/>
            <a:ext cx="1240035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38400" y="3781425"/>
            <a:ext cx="992088" cy="266700"/>
          </a:xfrm>
          <a:prstGeom prst="roundRect">
            <a:avLst>
              <a:gd name="adj" fmla="val 21428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38400" y="4181475"/>
            <a:ext cx="992088" cy="266700"/>
          </a:xfrm>
          <a:prstGeom prst="roundRect">
            <a:avLst>
              <a:gd name="adj" fmla="val 21428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38400" y="4581525"/>
            <a:ext cx="909339" cy="266700"/>
          </a:xfrm>
          <a:prstGeom prst="roundRect">
            <a:avLst>
              <a:gd name="adj" fmla="val 21428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Voice of the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What Reviewers Are Telling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477000"/>
            <a:ext cx="6631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Counts are hand-coded, ±20%, for ranking and prioritization purposes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3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2624137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Tracking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0" y="2624137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3024187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0F172A"/>
                </a:solidFill>
                <a:latin typeface="Plus Jakarta Sans"/>
              </a:rPr>
              <a:t>Booking &amp; Roster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0" y="3024187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3424237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0F172A"/>
                </a:solidFill>
                <a:latin typeface="Plus Jakarta Sans"/>
              </a:rPr>
              <a:t>Launch / Crash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3424237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" y="3824287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0F172A"/>
                </a:solidFill>
                <a:latin typeface="Plus Jakarta Sans"/>
              </a:rPr>
              <a:t>ETA Discrepancy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3824287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4224337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0F172A"/>
                </a:solidFill>
                <a:latin typeface="Plus Jakarta Sans"/>
              </a:rPr>
              <a:t>Login / OTP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4224337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4624387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Driver Comms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4624387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11%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081462"/>
            <a:ext cx="106680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281237"/>
            <a:ext cx="32385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6750" y="2281237"/>
            <a:ext cx="3238500" cy="1457325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91500" y="2281237"/>
            <a:ext cx="3238500" cy="1457325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1237" y="4319587"/>
            <a:ext cx="9525" cy="5905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291465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2914650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2557462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255746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450" y="2557462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User Journey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App Fails at the Moment of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477000"/>
            <a:ext cx="7905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Highlighted by Rayan D'Souza and Ayan Bhattacharya regarding critical lockouts during transit.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4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523" y="2881312"/>
            <a:ext cx="36254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Pickup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43" y="3157537"/>
            <a:ext cx="3452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Employee standing waiting for cab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3273" y="2881312"/>
            <a:ext cx="36254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91B1B"/>
                </a:solidFill>
                <a:latin typeface="Plus Jakarta Sans"/>
              </a:rPr>
              <a:t>2. Launch 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9593" y="3157537"/>
            <a:ext cx="3452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B91C1C"/>
                </a:solidFill>
                <a:latin typeface="Plus Jakarta Sans"/>
              </a:rPr>
              <a:t>Blank screen, forced logout, or missing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8023" y="2881312"/>
            <a:ext cx="36254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91B1B"/>
                </a:solidFill>
                <a:latin typeface="Plus Jakarta Sans"/>
              </a:rPr>
              <a:t>3. Total Blindness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4343" y="3157537"/>
            <a:ext cx="345281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B91C1C"/>
                </a:solidFill>
                <a:latin typeface="Plus Jakarta Sans"/>
              </a:rPr>
              <a:t>Cannot see cab, driver number, or SOS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4319587"/>
            <a:ext cx="488156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1" u="none">
                <a:solidFill>
                  <a:srgbClr val="334155"/>
                </a:solidFill>
                <a:latin typeface="Plus Jakarta Sans"/>
              </a:rPr>
              <a:t>“Forced logout right when cab arrives blocks access to emergency SOS.”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125" y="4757737"/>
            <a:ext cx="59828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— Rayan D'Souza (Reviewer)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5562" y="4319587"/>
            <a:ext cx="488156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1" u="none">
                <a:solidFill>
                  <a:srgbClr val="334155"/>
                </a:solidFill>
                <a:latin typeface="Plus Jakarta Sans"/>
              </a:rPr>
              <a:t>“Auto-update forces a fresh login just before pickup and then won't launch.”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5562" y="4757737"/>
            <a:ext cx="5786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— Ayan Bhattacharya (Reviewer)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562100"/>
            <a:ext cx="5219700" cy="4305300"/>
          </a:xfrm>
          <a:prstGeom prst="roundRect">
            <a:avLst>
              <a:gd name="adj" fmla="val 265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562100"/>
            <a:ext cx="5219700" cy="4305300"/>
          </a:xfrm>
          <a:prstGeom prst="roundRect">
            <a:avLst>
              <a:gd name="adj" fmla="val 265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280035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914650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Longitudinal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Chronic vs. Acute Issue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77000"/>
            <a:ext cx="8143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The map auto-zoom-out defect was acknowledged in 2019, 2024 and 2025 and is still reported.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5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00400"/>
            <a:ext cx="4686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Persistent structural defects reported consistently across multiple years without resolution.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314700"/>
            <a:ext cx="4686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7F1D1D"/>
                </a:solidFill>
                <a:latin typeface="Plus Jakarta Sans"/>
              </a:rPr>
              <a:t>Newly emerged or sharply escalated friction points causing severe user frustration this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3525" y="2757487"/>
            <a:ext cx="283785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Chronic Issues (7 Years)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38100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3810000"/>
            <a:ext cx="550068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Live tracking lag and frozen cab icons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40386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4038600"/>
            <a:ext cx="550068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ETA calculation discrepancies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2672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4267200"/>
            <a:ext cx="4495800" cy="4572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Map auto-zoom-out defect (acknowledged 2019, 2024, 2025; still reported)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1825" y="2871787"/>
            <a:ext cx="246280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Acute Issues 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39243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3924300"/>
            <a:ext cx="54768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91B1B"/>
                </a:solidFill>
                <a:latin typeface="Plus Jakarta Sans"/>
              </a:rPr>
              <a:t>“Not installed from Play Store” integrity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925" y="41529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4152900"/>
            <a:ext cx="54768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91B1B"/>
                </a:solidFill>
                <a:latin typeface="Plus Jakarta Sans"/>
              </a:rPr>
              <a:t>OTP delivery failures and multi-day retry loops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925" y="43815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4381500"/>
            <a:ext cx="54768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91B1B"/>
                </a:solidFill>
                <a:latin typeface="Plus Jakarta Sans"/>
              </a:rPr>
              <a:t>Intrusive notification spam and forced feedback pop-ups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562100"/>
            <a:ext cx="3403550" cy="4305300"/>
          </a:xfrm>
          <a:prstGeom prst="roundRect">
            <a:avLst>
              <a:gd name="adj" fmla="val 33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1562100"/>
            <a:ext cx="3403550" cy="4305300"/>
          </a:xfrm>
          <a:prstGeom prst="roundRect">
            <a:avLst>
              <a:gd name="adj" fmla="val 33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1562100"/>
            <a:ext cx="3403550" cy="4305300"/>
          </a:xfrm>
          <a:prstGeom prst="roundRect">
            <a:avLst>
              <a:gd name="adj" fmla="val 33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8225" y="18383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70375" y="18383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2525" y="18383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Accountability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Who Owns Each Problem?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477000"/>
            <a:ext cx="8215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Reframing stops the team from deflecting product bugs while acknowledging policy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6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2295525"/>
            <a:ext cx="35638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Bugs we must fix in code: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2295525"/>
            <a:ext cx="35638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Policies set per employer: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2295525"/>
            <a:ext cx="35638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Vendor and driver execution: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18383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7325" y="1881187"/>
            <a:ext cx="248781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Product &amp;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75" y="263646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9675" y="2634555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App crashes and blank screens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475" y="284973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9675" y="2847826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OTP failure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" y="306300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9675" y="3061096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Broken map tracking &amp; auto-zoom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475" y="327627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9675" y="3274367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Session token expirations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7500" y="18383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9475" y="1881187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Customer-Configured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5625" y="263646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1825" y="2634555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Roster lock-in timings &amp; cutoffs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5625" y="284973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1825" y="2847826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No-show penalty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5625" y="306300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1825" y="3061096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Mandatory compliance pop-ups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5625" y="327627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1825" y="3274367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Employee transport policies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9650" y="18383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Plus Jakarta Sans"/>
              </a:rPr>
              <a:t>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1625" y="1881187"/>
            <a:ext cx="20627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Operations &amp; Fleet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7775" y="263646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3975" y="2634555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Driver phone availability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7775" y="284973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3975" y="2847826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Fleet adherence to routes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7775" y="306300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3975" y="3061096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Driver app connectivity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7775" y="327627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3975" y="3274367"/>
            <a:ext cx="3349562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On-ground support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2371725"/>
          <a:ext cx="10667998" cy="2628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22165"/>
                <a:gridCol w="4530476"/>
                <a:gridCol w="3815357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Issue / Failure Symptom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Technical Hypothesis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Data Required to Confirm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Installer / Integrity Misfire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Play Integrity API false-negative flag on specific OEM builds.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Play Console device crash &amp; install logs.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OTP Single-Channel Lockout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SMS gateway timeout with no automatic fallback mechanism.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Gateway delivery receipt timestamps &amp; failure rate.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Short Session Tokens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Aggressive token expiration invalidating sessions overnight.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Auth service logs &amp; forced logout frequency.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Stale GPS Served as Live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Client-side map caching failing to drop stale websocket pings.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WebSocket latency and packet drop telemetry.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Non-Idempotent Booking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Network retry creates duplicate roster bookings or failures.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API server error logs on roster submission.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609600"/>
            <a:ext cx="10763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Technical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6775"/>
            <a:ext cx="114300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Root Causes (Hypotheses to Verify)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77000"/>
            <a:ext cx="6381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Requires Android vitals, provider receipts and release history to confirm.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0875" y="64770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562100"/>
            <a:ext cx="5219700" cy="4305300"/>
          </a:xfrm>
          <a:prstGeom prst="roundRect">
            <a:avLst>
              <a:gd name="adj" fmla="val 265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562100"/>
            <a:ext cx="5219700" cy="4305300"/>
          </a:xfrm>
          <a:prstGeom prst="roundRect">
            <a:avLst>
              <a:gd name="adj" fmla="val 265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10515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3105150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Strategic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Priority Matrix (Impact vs. Effort)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77000"/>
            <a:ext cx="6334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Blocking issues outrank annoyances regardless of raw complaint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8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3525" y="3062287"/>
            <a:ext cx="45130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Quick Wins (High Impact, Low Effort)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35052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3505200"/>
            <a:ext cx="550068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4532D"/>
                </a:solidFill>
                <a:latin typeface="Plus Jakarta Sans"/>
              </a:rPr>
              <a:t>R4: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“Updated Xs ago” timestamp + stop auto-zoom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37338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3733800"/>
            <a:ext cx="550068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4532D"/>
                </a:solidFill>
                <a:latin typeface="Plus Jakarta Sans"/>
              </a:rPr>
              <a:t>R9: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Notification deduplication and cleanup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39624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3962400"/>
            <a:ext cx="550068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4532D"/>
                </a:solidFill>
                <a:latin typeface="Plus Jakarta Sans"/>
              </a:rPr>
              <a:t>R10: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Startup policy pop-up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1910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4191000"/>
            <a:ext cx="550068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4532D"/>
                </a:solidFill>
                <a:latin typeface="Plus Jakarta Sans"/>
              </a:rPr>
              <a:t>R11: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Audit and fix rating/feedback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1825" y="3062287"/>
            <a:ext cx="478809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Plus Jakarta Sans"/>
              </a:rPr>
              <a:t>Product Core (High Impact, High Effort)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35052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3505200"/>
            <a:ext cx="54768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E3A8A"/>
                </a:solidFill>
                <a:latin typeface="Plus Jakarta Sans"/>
              </a:rPr>
              <a:t>R1:</a:t>
            </a:r>
            <a:r>
              <a:rPr b="0" sz="1125" i="0" u="none">
                <a:solidFill>
                  <a:srgbClr val="1E3A8A"/>
                </a:solidFill>
                <a:latin typeface="Plus Jakarta Sans"/>
              </a:rPr>
              <a:t> Fix launch and installer failure integrity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925" y="37338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3733800"/>
            <a:ext cx="54768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E3A8A"/>
                </a:solidFill>
                <a:latin typeface="Plus Jakarta Sans"/>
              </a:rPr>
              <a:t>R2:</a:t>
            </a:r>
            <a:r>
              <a:rPr b="0" sz="1125" i="0" u="none">
                <a:solidFill>
                  <a:srgbClr val="1E3A8A"/>
                </a:solidFill>
                <a:latin typeface="Plus Jakarta Sans"/>
              </a:rPr>
              <a:t> OTP delivery overhaul with automatic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925" y="396240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3962400"/>
            <a:ext cx="4495800" cy="4572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1E3A8A"/>
                </a:solidFill>
                <a:latin typeface="Plus Jakarta Sans"/>
              </a:rPr>
              <a:t>R3:</a:t>
            </a:r>
            <a:r>
              <a:rPr b="0" sz="1125" i="0" u="none">
                <a:solidFill>
                  <a:srgbClr val="1E3A8A"/>
                </a:solidFill>
                <a:latin typeface="Plus Jakarta Sans"/>
              </a:rPr>
              <a:t> Persistent session tokens + always-available trip card with offline 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862387"/>
            <a:ext cx="10668000" cy="1057275"/>
          </a:xfrm>
          <a:prstGeom prst="roundRect">
            <a:avLst>
              <a:gd name="adj" fmla="val 1081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509837"/>
            <a:ext cx="23955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19487" y="2509837"/>
            <a:ext cx="23955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6975" y="2509837"/>
            <a:ext cx="23955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34462" y="2509837"/>
            <a:ext cx="23955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1237" y="4100512"/>
            <a:ext cx="9525" cy="581025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7" y="29622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296227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812" y="296227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706" y="2747962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006" y="2747962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493" y="2747962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6506" y="2747962"/>
            <a:ext cx="17145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60960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Automation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667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Review Intelligence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477000"/>
            <a:ext cx="7393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Integrates Play Console, LLMs, BigQuery, Slack and Jira into an automated quality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350" y="6477000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9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30" y="3005137"/>
            <a:ext cx="26190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Play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589" y="3214687"/>
            <a:ext cx="2494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Collector &amp;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7717" y="3005137"/>
            <a:ext cx="26190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AI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076" y="3214687"/>
            <a:ext cx="2494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Taxonomy tagging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5205" y="3005137"/>
            <a:ext cx="26190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Spike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564" y="3214687"/>
            <a:ext cx="2494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Version/OS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2692" y="3005137"/>
            <a:ext cx="26190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Action &amp; Slack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5051" y="3214687"/>
            <a:ext cx="2494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Jira tickets &amp; drafts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" y="4100512"/>
            <a:ext cx="638204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Plus Jakarta Sans"/>
              </a:rPr>
              <a:t>Granular Diagnostics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" y="4338637"/>
            <a:ext cx="49577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40AF"/>
                </a:solidFill>
                <a:latin typeface="Plus Jakarta Sans"/>
              </a:rPr>
              <a:t>Uses appVersion, Android version, and device metadata to instantly catch incidents like “Android 14 + Build X” failures.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9362" y="4100512"/>
            <a:ext cx="58626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Plus Jakarta Sans"/>
              </a:rPr>
              <a:t>Safety &amp;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9362" y="4338637"/>
            <a:ext cx="49577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40AF"/>
                </a:solidFill>
                <a:latin typeface="Plus Jakarta Sans"/>
              </a:rPr>
              <a:t>Strict PII redaction before LLM processing; human approval workflows enforced for all public reply drafts.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315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852737"/>
            <a:ext cx="3403550" cy="1761976"/>
          </a:xfrm>
          <a:prstGeom prst="roundRect">
            <a:avLst>
              <a:gd name="adj" fmla="val 648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852737"/>
            <a:ext cx="3403550" cy="1761976"/>
          </a:xfrm>
          <a:prstGeom prst="roundRect">
            <a:avLst>
              <a:gd name="adj" fmla="val 648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852737"/>
            <a:ext cx="3403550" cy="1761976"/>
          </a:xfrm>
          <a:prstGeom prst="roundRect">
            <a:avLst>
              <a:gd name="adj" fmla="val 648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63150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938337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Execution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9551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Roadmap, KPIs &amp; Immediate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6965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Speaker Notes: Asking for immediate engineering ownership, data access, and weekly cadence.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4675" y="6477000"/>
            <a:ext cx="9810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090862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Phased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090862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Success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425" y="3090862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Immediate Asks (This Week)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38518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338613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Phase 1 (0-4wks):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Quick wins &amp; rating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58327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358422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Phase 2 (3-12wks):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Core fixes (R1, R2, R3)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378136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575" y="3782317"/>
            <a:ext cx="2851100" cy="3961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Phase 3 (2-18wks):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Review Intelligence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17754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" y="4178498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Phase 4: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Continuous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7050" y="338518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3725" y="338613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Rolling 30/90-day rating &amp; 1-star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7050" y="358327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3725" y="358422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Crash-free users &amp; ANR below thresholds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7050" y="378136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3725" y="378231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Login success &amp; OTP delivery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7050" y="397945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3725" y="3980408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GPS freshness &amp; wrong no-show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9200" y="338518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5875" y="338613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Assign product owners for R1 &amp; R2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9200" y="358327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5875" y="358422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Grant data access for Android vitals &amp; Play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9200" y="3781365"/>
            <a:ext cx="6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5875" y="3782317"/>
            <a:ext cx="3444812" cy="1980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Schedule 30-minute weekly rating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